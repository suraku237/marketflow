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65A82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4122 — DISTRIBUTED SYSTEMS &amp; CLOUD COMPUTING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SmartStock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Supermarket Inventory, Sales Prediction &amp; Payroll Management System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 Specification — Summary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5760720"/>
            <a:ext cx="5669280" cy="18288"/>
          </a:xfrm>
          <a:prstGeom prst="rect">
            <a:avLst/>
          </a:prstGeom>
          <a:solidFill>
            <a:srgbClr val="3A4A7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5943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University Yaoundé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6263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  </a:t>
            </a:r>
            <a:pPr indent="0" marL="0">
              <a:buNone/>
            </a:pPr>
            <a:r>
              <a:rPr lang="en-US" sz="1200" dirty="0">
                <a:solidFill>
                  <a:srgbClr val="9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Kwete Rayan, Kamdeu Yamdjeuson, Neil Marshall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966960" y="6263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— Aug 10,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 &amp; Scope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distributed platform covering four functional areas for a single supermarket, integrating with an external Mobile Money Gateway.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2F6F8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21284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212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Management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27355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stock levels, suppliers, reorder points, batch/expiry tracking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10712" y="201168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2F6F8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221284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2212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93592" y="2788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Prediction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93592" y="327355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future need per product from historical sales data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72784" y="201168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2F6F8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73952" y="2212848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6473952" y="2212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55664" y="2788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&amp; Payroll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55664" y="327355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records, roles, salary computation and disbursement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34856" y="201168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2F6F8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36024" y="2212848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2" name="Text 20"/>
          <p:cNvSpPr/>
          <p:nvPr/>
        </p:nvSpPr>
        <p:spPr>
          <a:xfrm>
            <a:off x="9336024" y="2212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17736" y="2788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Processing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317736" y="327355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payments &amp; staff payouts via Mobile Money / online gateway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4251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Actors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466344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663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468880" y="466344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68880" y="4663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389120" y="466344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0" y="4663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/ Admin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309360" y="4663440"/>
            <a:ext cx="28346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46634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Money Gateway (external)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5394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 POS hardware drivers, tax-authority filing, multi-store/warehouse logistics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SmartStock SRS — Summary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Flow: Checkout &amp; Mobile Money Payment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Use-case-driven requirement, central to reliability and auditability guarantees (Sec. 3.3)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709928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0992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417320" y="1600200"/>
            <a:ext cx="5989320" cy="841248"/>
          </a:xfrm>
          <a:prstGeom prst="roundRect">
            <a:avLst>
              <a:gd name="adj" fmla="val 7609"/>
            </a:avLst>
          </a:prstGeom>
          <a:solidFill>
            <a:srgbClr val="F2F6F8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1600200"/>
            <a:ext cx="5577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 scans/selects items; system computes sale total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59536" y="2331720"/>
            <a:ext cx="0" cy="237744"/>
          </a:xfrm>
          <a:prstGeom prst="line">
            <a:avLst/>
          </a:prstGeom>
          <a:noFill/>
          <a:ln w="19050">
            <a:solidFill>
              <a:srgbClr val="B7C6C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48640" y="2679192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7919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417320" y="2569464"/>
            <a:ext cx="5989320" cy="841248"/>
          </a:xfrm>
          <a:prstGeom prst="roundRect">
            <a:avLst>
              <a:gd name="adj" fmla="val 7609"/>
            </a:avLst>
          </a:prstGeom>
          <a:solidFill>
            <a:srgbClr val="F2F6F8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0" y="2569464"/>
            <a:ext cx="5577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 selects payment method (mobile money or online)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59536" y="3300984"/>
            <a:ext cx="0" cy="237744"/>
          </a:xfrm>
          <a:prstGeom prst="line">
            <a:avLst/>
          </a:prstGeom>
          <a:noFill/>
          <a:ln w="19050">
            <a:solidFill>
              <a:srgbClr val="B7C6CE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48640" y="3648456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648456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417320" y="3538728"/>
            <a:ext cx="5989320" cy="841248"/>
          </a:xfrm>
          <a:prstGeom prst="roundRect">
            <a:avLst>
              <a:gd name="adj" fmla="val 7609"/>
            </a:avLst>
          </a:prstGeom>
          <a:solidFill>
            <a:srgbClr val="F2F6F8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5920" y="3538728"/>
            <a:ext cx="5577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sends payment request to gateway; customer confirms PIN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59536" y="4270248"/>
            <a:ext cx="0" cy="237744"/>
          </a:xfrm>
          <a:prstGeom prst="line">
            <a:avLst/>
          </a:prstGeom>
          <a:noFill/>
          <a:ln w="19050">
            <a:solidFill>
              <a:srgbClr val="B7C6CE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48640" y="4617720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61772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417320" y="4507992"/>
            <a:ext cx="5989320" cy="841248"/>
          </a:xfrm>
          <a:prstGeom prst="roundRect">
            <a:avLst>
              <a:gd name="adj" fmla="val 7609"/>
            </a:avLst>
          </a:prstGeom>
          <a:solidFill>
            <a:srgbClr val="F2F6F8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45920" y="4507992"/>
            <a:ext cx="5577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returns approval, decline, or timeout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59536" y="5239512"/>
            <a:ext cx="0" cy="237744"/>
          </a:xfrm>
          <a:prstGeom prst="line">
            <a:avLst/>
          </a:prstGeom>
          <a:noFill/>
          <a:ln w="19050">
            <a:solidFill>
              <a:srgbClr val="B7C6CE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48640" y="5586984"/>
            <a:ext cx="621792" cy="6217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558698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417320" y="5477256"/>
            <a:ext cx="5989320" cy="841248"/>
          </a:xfrm>
          <a:prstGeom prst="roundRect">
            <a:avLst>
              <a:gd name="adj" fmla="val 7609"/>
            </a:avLst>
          </a:prstGeom>
          <a:solidFill>
            <a:srgbClr val="F2F6F8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45920" y="5477256"/>
            <a:ext cx="5577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approval: stock decremented, receipt issued, payment recorded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818120" y="1600200"/>
            <a:ext cx="3794760" cy="4343400"/>
          </a:xfrm>
          <a:prstGeom prst="roundRect">
            <a:avLst>
              <a:gd name="adj" fmla="val 1928"/>
            </a:avLst>
          </a:prstGeom>
          <a:solidFill>
            <a:srgbClr val="21295C"/>
          </a:solidFill>
          <a:ln/>
        </p:spPr>
      </p:sp>
      <p:sp>
        <p:nvSpPr>
          <p:cNvPr id="30" name="Text 28"/>
          <p:cNvSpPr/>
          <p:nvPr/>
        </p:nvSpPr>
        <p:spPr>
          <a:xfrm>
            <a:off x="8092440" y="181051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Safeguards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092440" y="237744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2" name="Text 30"/>
          <p:cNvSpPr/>
          <p:nvPr/>
        </p:nvSpPr>
        <p:spPr>
          <a:xfrm>
            <a:off x="8366760" y="2258568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never decremented before payment approval (FR-3.5, NFR-2)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92440" y="324612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Text 32"/>
          <p:cNvSpPr/>
          <p:nvPr/>
        </p:nvSpPr>
        <p:spPr>
          <a:xfrm>
            <a:off x="8366760" y="3127248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sale linked 1:1 to a payment record with a MoMo/transaction reference (FR-3.6, NFR-6)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092440" y="411480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6" name="Text 34"/>
          <p:cNvSpPr/>
          <p:nvPr/>
        </p:nvSpPr>
        <p:spPr>
          <a:xfrm>
            <a:off x="8366760" y="3995928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Declined or timed-out payments trigger a retry-or-switch prompt, never a silent failure (FR-3.4, NFR-9)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092440" y="498348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8" name="Text 36"/>
          <p:cNvSpPr/>
          <p:nvPr/>
        </p:nvSpPr>
        <p:spPr>
          <a:xfrm>
            <a:off x="8366760" y="4864608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can be cancelled any time before payment confirmation (FR-2.7)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SmartStock SRS — Summary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Non-Functional Requirements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72768" cy="868680"/>
          </a:xfrm>
          <a:prstGeom prst="roundRect">
            <a:avLst>
              <a:gd name="adj" fmla="val 7368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727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Front End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49424" y="1371600"/>
            <a:ext cx="1572768" cy="868680"/>
          </a:xfrm>
          <a:prstGeom prst="roundRect">
            <a:avLst>
              <a:gd name="adj" fmla="val 7368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2249424" y="1371600"/>
            <a:ext cx="15727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950208" y="1371600"/>
            <a:ext cx="1572768" cy="868680"/>
          </a:xfrm>
          <a:prstGeom prst="roundRect">
            <a:avLst>
              <a:gd name="adj" fmla="val 7368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3950208" y="1371600"/>
            <a:ext cx="15727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50992" y="1371600"/>
            <a:ext cx="1572768" cy="868680"/>
          </a:xfrm>
          <a:prstGeom prst="roundRect">
            <a:avLst>
              <a:gd name="adj" fmla="val 7368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650992" y="1371600"/>
            <a:ext cx="15727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51776" y="1371600"/>
            <a:ext cx="1572768" cy="868680"/>
          </a:xfrm>
          <a:prstGeom prst="roundRect">
            <a:avLst>
              <a:gd name="adj" fmla="val 7368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351776" y="1371600"/>
            <a:ext cx="15727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52560" y="1371600"/>
            <a:ext cx="1572768" cy="868680"/>
          </a:xfrm>
          <a:prstGeom prst="roundRect">
            <a:avLst>
              <a:gd name="adj" fmla="val 7368"/>
            </a:avLst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9052560" y="1371600"/>
            <a:ext cx="15727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Subsystem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441448"/>
            <a:ext cx="10076688" cy="0"/>
          </a:xfrm>
          <a:prstGeom prst="line">
            <a:avLst/>
          </a:prstGeom>
          <a:noFill/>
          <a:ln w="15875">
            <a:solidFill>
              <a:srgbClr val="B7C6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53288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Engine runs decoupled from transactional processing — forecast computation never blocks POS operations (NFR-3)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246120"/>
            <a:ext cx="5257800" cy="1417320"/>
          </a:xfrm>
          <a:prstGeom prst="roundRect">
            <a:avLst>
              <a:gd name="adj" fmla="val 4516"/>
            </a:avLst>
          </a:prstGeom>
          <a:solidFill>
            <a:srgbClr val="F2F6F8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44728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4472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98448" y="33832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 &amp; Consistency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39319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confirmed before a sale is marked paid; stock decrements only after approval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89320" y="3246120"/>
            <a:ext cx="5257800" cy="1417320"/>
          </a:xfrm>
          <a:prstGeom prst="roundRect">
            <a:avLst>
              <a:gd name="adj" fmla="val 4516"/>
            </a:avLst>
          </a:prstGeom>
          <a:solidFill>
            <a:srgbClr val="F2F6F8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344728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34472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39128" y="33832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39319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Engine is a separate logical component, run in batch/scheduled cycles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846320"/>
            <a:ext cx="5257800" cy="1417320"/>
          </a:xfrm>
          <a:prstGeom prst="roundRect">
            <a:avLst>
              <a:gd name="adj" fmla="val 4516"/>
            </a:avLst>
          </a:prstGeom>
          <a:solidFill>
            <a:srgbClr val="F2F6F8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5047488"/>
            <a:ext cx="384048" cy="3840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5047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98448" y="49834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2960" y="55321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staff credential model; MoMo references &amp; payroll data restricted to Manager/Admin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989320" y="4846320"/>
            <a:ext cx="5257800" cy="1417320"/>
          </a:xfrm>
          <a:prstGeom prst="roundRect">
            <a:avLst>
              <a:gd name="adj" fmla="val 4516"/>
            </a:avLst>
          </a:prstGeom>
          <a:solidFill>
            <a:srgbClr val="F2F6F8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7920" y="5047488"/>
            <a:ext cx="384048" cy="38404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0" y="5047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739128" y="49834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Auditability &amp; Usability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63640" y="55321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sale/payroll run reconciles against MoMo statements; clear retry prompts on failure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SmartStock SRS — Summary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&amp; Open Items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Domain Entities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51637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75163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437437" y="1691640"/>
            <a:ext cx="830275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437437" y="1691640"/>
            <a:ext cx="8302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04872" y="1691640"/>
            <a:ext cx="59436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2404872" y="16916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36392" y="1691640"/>
            <a:ext cx="751637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3136392" y="1691640"/>
            <a:ext cx="75163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025189" y="1691640"/>
            <a:ext cx="830275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4025189" y="1691640"/>
            <a:ext cx="8302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92624" y="1691640"/>
            <a:ext cx="1223467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4992624" y="1691640"/>
            <a:ext cx="122346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InventoryItem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2148840"/>
            <a:ext cx="515722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148840"/>
            <a:ext cx="51572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201522" y="2148840"/>
            <a:ext cx="830275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1201522" y="2148840"/>
            <a:ext cx="8302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SaleItem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168957" y="2148840"/>
            <a:ext cx="751637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2168957" y="2148840"/>
            <a:ext cx="75163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057754" y="2148840"/>
            <a:ext cx="1616659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3057754" y="2148840"/>
            <a:ext cx="16166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MobileMoneyPayment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11573" y="2148840"/>
            <a:ext cx="1223467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4811573" y="2148840"/>
            <a:ext cx="122346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OnlinePayment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2606040"/>
            <a:ext cx="1302106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2606040"/>
            <a:ext cx="13021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DemandForecast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987906" y="2606040"/>
            <a:ext cx="751637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1987906" y="2606040"/>
            <a:ext cx="75163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3703320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retention rule: payment &amp; payroll records kept for reconciliation against Mobile Money provider statements; batch expiry dates tracked for sale eligibility.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92240" y="1234440"/>
            <a:ext cx="5120640" cy="4892040"/>
          </a:xfrm>
          <a:prstGeom prst="roundRect">
            <a:avLst>
              <a:gd name="adj" fmla="val 1495"/>
            </a:avLst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0" y="14630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Items for the Group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766560" y="205740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Text 32"/>
          <p:cNvSpPr/>
          <p:nvPr/>
        </p:nvSpPr>
        <p:spPr>
          <a:xfrm>
            <a:off x="6766560" y="2057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296912" y="2002536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missing matricules for Kamdeu Yamdjeuson and Neil Marshall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766560" y="301752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7" name="Text 35"/>
          <p:cNvSpPr/>
          <p:nvPr/>
        </p:nvSpPr>
        <p:spPr>
          <a:xfrm>
            <a:off x="6766560" y="3017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296912" y="2962656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whether Online Payment (card) is in scope, or mobile money only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766560" y="397764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0" name="Text 38"/>
          <p:cNvSpPr/>
          <p:nvPr/>
        </p:nvSpPr>
        <p:spPr>
          <a:xfrm>
            <a:off x="6766560" y="3977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296912" y="3922776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measurable performance targets: gateway timeout limits, forecast generation time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766560" y="4983480"/>
            <a:ext cx="4572000" cy="0"/>
          </a:xfrm>
          <a:prstGeom prst="line">
            <a:avLst/>
          </a:prstGeom>
          <a:noFill/>
          <a:ln w="12700">
            <a:solidFill>
              <a:srgbClr val="3A6E8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0" y="51206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Traceability: functional areas → SDD Sec. 1.2/2.2 · checkout/payment → SDD Sec. 3.1/3.3 · inventory, prediction, payroll → SDD class &amp; sequence diagrams (Ch. 4–5)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SmartStock SRS — Summary  ·  Group 2  ·  ICT University Yaoundé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2026-08-10T14:15:24Z</dcterms:created>
  <dcterms:modified xsi:type="dcterms:W3CDTF">2026-08-10T14:15:24Z</dcterms:modified>
</cp:coreProperties>
</file>